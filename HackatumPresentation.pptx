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59" r:id="rId4"/>
    <p:sldId id="264" r:id="rId5"/>
    <p:sldId id="263" r:id="rId6"/>
    <p:sldId id="260" r:id="rId7"/>
    <p:sldId id="257" r:id="rId8"/>
    <p:sldId id="258" r:id="rId9"/>
    <p:sldId id="261" r:id="rId10"/>
    <p:sldId id="265" r:id="rId11"/>
    <p:sldId id="266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882" y="10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BAC87-472D-4D18-A0C4-3C25BD9EAAED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C244-D105-40EE-81CF-A97D9D5AD21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54124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0C244-D105-40EE-81CF-A97D9D5AD213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4155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70C244-D105-40EE-81CF-A97D9D5AD213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48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E5DA5-606E-3C2B-EFF6-ABDC971F0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C798F0-D63A-2DD8-832D-8754D766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E6312B3-C5F0-D864-099D-00CB35DD0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0DD69B-31A8-8FF3-461D-E9BFC5338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2AC519-2E91-E795-617C-55A096CD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185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D6B300-F7D6-2869-16C5-508414C19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3E4BBE-A3A2-0EEE-07F3-EFBFEEBEB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DFE374-D702-D565-00DC-419B3D4B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BAD2B-0DBD-C9E1-1F0F-D556CD50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60EAE3-D579-B810-A8F1-643D8CAC8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240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80698-E333-909D-D601-2CCC186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951438-9D98-01BF-BAEA-94A017812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38E031-BF4F-CE7D-3669-0A2A4CF94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8993CE-189F-34A5-E4C2-97D77B27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6CCDC8-B74C-590E-8098-7B1B14BE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7119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4B22B-CC7F-DB0B-7CCD-E5755E99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FE5C77-BE05-E4F1-D4D1-41301B6EA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559997-8483-CD6F-8AA5-5DE0FDA36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8B61D0-27A2-74A5-BADB-40A491A2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E08FE6-2FB3-D6FF-86BD-B8FB255A6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CD6A3E6-147E-FFF8-4D95-4555D19F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329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C318AC-580C-1138-0B2A-8679D604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FA068E-0BF4-FCC4-3560-490D9C635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075F90-CC05-ECAC-11E5-061D047C0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85297B4-245E-E1A8-CDA0-9D74A397C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89D14C7-598C-95C8-B5D0-1D705B9BB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E5D3C8B-85F8-897E-2F91-BCF30399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D67D37-4BDB-21DC-35FD-9DE9A8E0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D07BFD2-CB66-FFED-449B-72B3C5E2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105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AE23D-7819-63A1-4155-11085C115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E2F11DA-A8E1-3885-DEB5-C980D449A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AA82DD0-6B79-08B3-D6A2-0C4A8F88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C709B52-AA9C-0EFD-407D-41AE10B6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2735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0122766-24A7-5ABC-4C40-8C39E2D67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DC023A1-35A1-B0B9-1C0C-E659CA34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4F8EA7-002C-A5C5-E2DE-AA077A3D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0834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A13F76-C8BE-3927-1F23-00079AFB1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DCFDA8-A378-CA56-FEC3-113BCCC7A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D5B0C8-E535-A5DA-6535-06EF6C4F8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7D45B9D-350D-E340-8668-E190F8FFA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FE7FCF-3F98-7548-CA76-B09DD69C4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A171341-2557-4FD6-325C-8EB212F73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24410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908D5D-6BA3-63D5-A892-17D3202B4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7413C12F-7719-3819-11A3-B81F508F77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4F72226-A7C7-CDAA-C1E2-D44A8B8C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0C4DA6D-BE25-92AC-3099-41C25954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BCD3EA4-3AF0-6D12-16F2-09240F14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8C6FD1-B396-99B3-553B-A653BF00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4640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860F3-17BB-F091-CC96-2DE2E403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A69B849-D891-0F1C-E61E-5BCB2F64B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823EC8-F5A9-3E92-F226-71B7BFEA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BCC06D2-12D2-F390-1309-4E855E8CB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2AD7D3-31DE-CB7C-66A5-F3981F2E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02547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736D0BF-778F-D2BE-80E1-A35126866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E1F5C5-D6C0-B663-7716-CAD01B405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E9FB6F-4255-CC06-9E74-3A99DC1B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64DF18-1F7A-EC67-7AFC-0625FA43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A91A08-3BF7-10BF-B14F-6C115874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7234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91D7435-0550-592B-FD84-8FBAA4B40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E21AD2-3751-3C84-A08A-7AEFFCC9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34FAE1-6AE8-662B-1DC6-1D3E0DD33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8F333-71E4-42AB-AEC0-468B4D9BC7FB}" type="datetimeFigureOut">
              <a:rPr lang="de-AT" smtClean="0"/>
              <a:t>23.11.2025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45859-1508-E265-CF28-8D32FDD6B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5C331E-8FD3-39C6-9A77-C7EA8897F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94E3CB-4B42-4F07-B0C5-7726CEE35C8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79399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720D17B-0272-A45A-CE5B-E138F2A314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t="22928" b="14917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9A4764-F781-51DD-D1E7-B7370E921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de-AT" sz="16600" dirty="0">
                <a:solidFill>
                  <a:srgbClr val="FFFFFF"/>
                </a:solidFill>
              </a:rPr>
              <a:t>Aegis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C628015-9F4D-FAD2-1874-76C03C287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de-AT" sz="2800" i="1" dirty="0">
                <a:solidFill>
                  <a:srgbClr val="FFFFFF"/>
                </a:solidFill>
              </a:rPr>
              <a:t>A </a:t>
            </a:r>
            <a:r>
              <a:rPr lang="de-AT" sz="2800" i="1" dirty="0" err="1">
                <a:solidFill>
                  <a:srgbClr val="FFFFFF"/>
                </a:solidFill>
              </a:rPr>
              <a:t>lightweight</a:t>
            </a:r>
            <a:r>
              <a:rPr lang="de-AT" sz="2800" i="1" dirty="0">
                <a:solidFill>
                  <a:srgbClr val="FFFFFF"/>
                </a:solidFill>
              </a:rPr>
              <a:t> </a:t>
            </a:r>
            <a:r>
              <a:rPr lang="de-AT" sz="2800" i="1" dirty="0" err="1">
                <a:solidFill>
                  <a:srgbClr val="FFFFFF"/>
                </a:solidFill>
              </a:rPr>
              <a:t>syscall</a:t>
            </a:r>
            <a:r>
              <a:rPr lang="de-AT" sz="2800" i="1" dirty="0">
                <a:solidFill>
                  <a:srgbClr val="FFFFFF"/>
                </a:solidFill>
              </a:rPr>
              <a:t> </a:t>
            </a:r>
            <a:r>
              <a:rPr lang="de-AT" sz="2800" i="1" dirty="0" err="1">
                <a:solidFill>
                  <a:srgbClr val="FFFFFF"/>
                </a:solidFill>
              </a:rPr>
              <a:t>monitoring</a:t>
            </a:r>
            <a:r>
              <a:rPr lang="de-AT" sz="2800" i="1" dirty="0">
                <a:solidFill>
                  <a:srgbClr val="FFFFFF"/>
                </a:solidFill>
              </a:rPr>
              <a:t> and </a:t>
            </a:r>
            <a:r>
              <a:rPr lang="de-AT" sz="2800" i="1" dirty="0" err="1">
                <a:solidFill>
                  <a:srgbClr val="FFFFFF"/>
                </a:solidFill>
              </a:rPr>
              <a:t>sandboxing</a:t>
            </a:r>
            <a:r>
              <a:rPr lang="de-AT" sz="2800" i="1" dirty="0">
                <a:solidFill>
                  <a:srgbClr val="FFFFFF"/>
                </a:solidFill>
              </a:rPr>
              <a:t> </a:t>
            </a:r>
            <a:r>
              <a:rPr lang="de-AT" sz="2800" i="1" dirty="0" err="1">
                <a:solidFill>
                  <a:srgbClr val="FFFFFF"/>
                </a:solidFill>
              </a:rPr>
              <a:t>solution</a:t>
            </a:r>
            <a:endParaRPr lang="de-AT" sz="2800" i="1" dirty="0">
              <a:solidFill>
                <a:srgbClr val="FFFFFF"/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E3AB6FA-12E8-2E50-DBEC-FECE7AAFC6E8}"/>
              </a:ext>
            </a:extLst>
          </p:cNvPr>
          <p:cNvSpPr txBox="1"/>
          <p:nvPr/>
        </p:nvSpPr>
        <p:spPr>
          <a:xfrm>
            <a:off x="0" y="6510763"/>
            <a:ext cx="52120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200" dirty="0"/>
              <a:t>Dominik M. Weber, Emina </a:t>
            </a:r>
            <a:r>
              <a:rPr lang="de-AT" sz="1200" dirty="0" err="1"/>
              <a:t>Sljivic</a:t>
            </a:r>
            <a:r>
              <a:rPr lang="de-AT" sz="1200" dirty="0"/>
              <a:t>, Hanna </a:t>
            </a:r>
            <a:r>
              <a:rPr lang="de-AT" sz="1200" dirty="0" err="1"/>
              <a:t>Körkel</a:t>
            </a:r>
            <a:endParaRPr lang="de-AT" sz="1200" dirty="0"/>
          </a:p>
        </p:txBody>
      </p:sp>
    </p:spTree>
    <p:extLst>
      <p:ext uri="{BB962C8B-B14F-4D97-AF65-F5344CB8AC3E}">
        <p14:creationId xmlns:p14="http://schemas.microsoft.com/office/powerpoint/2010/main" val="3545993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6F6A81-1310-15DB-D4A8-8028BEB4F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Motivation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A1B6DD-7706-2666-2F2A-BC63261F4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Black-box </a:t>
            </a:r>
            <a:r>
              <a:rPr lang="de-AT" dirty="0" err="1"/>
              <a:t>apps</a:t>
            </a:r>
            <a:r>
              <a:rPr lang="de-AT" dirty="0"/>
              <a:t> </a:t>
            </a:r>
            <a:r>
              <a:rPr lang="de-AT" dirty="0" err="1"/>
              <a:t>without</a:t>
            </a:r>
            <a:r>
              <a:rPr lang="de-AT" dirty="0"/>
              <a:t> source code -&gt; </a:t>
            </a:r>
            <a:r>
              <a:rPr lang="de-AT" dirty="0" err="1"/>
              <a:t>security</a:t>
            </a:r>
            <a:r>
              <a:rPr lang="de-AT" dirty="0"/>
              <a:t> </a:t>
            </a:r>
            <a:r>
              <a:rPr lang="de-AT" dirty="0" err="1"/>
              <a:t>concerns</a:t>
            </a:r>
            <a:endParaRPr lang="de-AT" dirty="0"/>
          </a:p>
          <a:p>
            <a:endParaRPr lang="de-AT" dirty="0"/>
          </a:p>
          <a:p>
            <a:r>
              <a:rPr lang="de-AT" dirty="0"/>
              <a:t>Best </a:t>
            </a:r>
            <a:r>
              <a:rPr lang="de-AT" dirty="0" err="1"/>
              <a:t>security</a:t>
            </a:r>
            <a:r>
              <a:rPr lang="de-AT" dirty="0"/>
              <a:t>: Spin </a:t>
            </a:r>
            <a:r>
              <a:rPr lang="de-AT" dirty="0" err="1"/>
              <a:t>up</a:t>
            </a:r>
            <a:r>
              <a:rPr lang="de-AT" dirty="0"/>
              <a:t> VM (</a:t>
            </a:r>
            <a:r>
              <a:rPr lang="de-AT" dirty="0" err="1"/>
              <a:t>boring</a:t>
            </a:r>
            <a:r>
              <a:rPr lang="de-AT" dirty="0"/>
              <a:t>)</a:t>
            </a:r>
          </a:p>
          <a:p>
            <a:pPr marL="457200" lvl="1" indent="0">
              <a:buNone/>
            </a:pPr>
            <a:endParaRPr lang="de-AT" dirty="0"/>
          </a:p>
          <a:p>
            <a:r>
              <a:rPr lang="de-AT" dirty="0"/>
              <a:t>Solution: Lightweight </a:t>
            </a:r>
            <a:r>
              <a:rPr lang="de-AT" dirty="0" err="1"/>
              <a:t>sandbox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monitoring</a:t>
            </a:r>
            <a:r>
              <a:rPr lang="de-AT" dirty="0"/>
              <a:t> </a:t>
            </a:r>
            <a:r>
              <a:rPr lang="de-AT" dirty="0" err="1"/>
              <a:t>capabilities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0420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88C8A2D-D930-707F-B25D-6A63BF30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Monitoring</a:t>
            </a:r>
          </a:p>
        </p:txBody>
      </p:sp>
    </p:spTree>
    <p:extLst>
      <p:ext uri="{BB962C8B-B14F-4D97-AF65-F5344CB8AC3E}">
        <p14:creationId xmlns:p14="http://schemas.microsoft.com/office/powerpoint/2010/main" val="19789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E67765B-38F8-8043-CA88-6E31C1690B80}"/>
              </a:ext>
            </a:extLst>
          </p:cNvPr>
          <p:cNvSpPr/>
          <p:nvPr/>
        </p:nvSpPr>
        <p:spPr>
          <a:xfrm>
            <a:off x="639097" y="2792672"/>
            <a:ext cx="2703871" cy="17304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400" dirty="0"/>
              <a:t>Aegis</a:t>
            </a: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CB92A045-3BB0-AFA6-784A-1E382D21D420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3342968" y="3657911"/>
            <a:ext cx="263258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06F010A0-6A6B-73F0-756E-C06D7C9539E4}"/>
              </a:ext>
            </a:extLst>
          </p:cNvPr>
          <p:cNvSpPr/>
          <p:nvPr/>
        </p:nvSpPr>
        <p:spPr>
          <a:xfrm>
            <a:off x="5975554" y="3018815"/>
            <a:ext cx="1838633" cy="127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C++</a:t>
            </a:r>
            <a:br>
              <a:rPr lang="de-AT" dirty="0"/>
            </a:br>
            <a:r>
              <a:rPr lang="de-AT" dirty="0"/>
              <a:t>Helper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FBAB53F1-2D56-CBF5-C316-007D90718300}"/>
              </a:ext>
            </a:extLst>
          </p:cNvPr>
          <p:cNvCxnSpPr>
            <a:cxnSpLocks/>
            <a:stCxn id="13" idx="3"/>
            <a:endCxn id="21" idx="1"/>
          </p:cNvCxnSpPr>
          <p:nvPr/>
        </p:nvCxnSpPr>
        <p:spPr>
          <a:xfrm>
            <a:off x="7814187" y="3657912"/>
            <a:ext cx="19074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881A0CFE-EFDA-665A-D3EA-78A825ADA65E}"/>
              </a:ext>
            </a:extLst>
          </p:cNvPr>
          <p:cNvSpPr txBox="1"/>
          <p:nvPr/>
        </p:nvSpPr>
        <p:spPr>
          <a:xfrm>
            <a:off x="8014518" y="3244334"/>
            <a:ext cx="329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fork</a:t>
            </a:r>
            <a:r>
              <a:rPr lang="de-AT" dirty="0"/>
              <a:t> &amp; </a:t>
            </a:r>
            <a:r>
              <a:rPr lang="de-AT" b="1" dirty="0" err="1"/>
              <a:t>ptrace</a:t>
            </a:r>
            <a:endParaRPr lang="de-AT" b="1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C69C6B8-0DE8-6282-B866-8DC7A0BF1370}"/>
              </a:ext>
            </a:extLst>
          </p:cNvPr>
          <p:cNvSpPr/>
          <p:nvPr/>
        </p:nvSpPr>
        <p:spPr>
          <a:xfrm>
            <a:off x="9721646" y="3018815"/>
            <a:ext cx="1838633" cy="1278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Traced</a:t>
            </a:r>
            <a:r>
              <a:rPr lang="de-AT" dirty="0"/>
              <a:t> </a:t>
            </a:r>
            <a:r>
              <a:rPr lang="de-AT" dirty="0" err="1"/>
              <a:t>app</a:t>
            </a:r>
            <a:endParaRPr lang="de-AT" dirty="0"/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D5127038-D4DF-6BE9-95ED-2B9059CD3129}"/>
              </a:ext>
            </a:extLst>
          </p:cNvPr>
          <p:cNvSpPr txBox="1"/>
          <p:nvPr/>
        </p:nvSpPr>
        <p:spPr>
          <a:xfrm>
            <a:off x="4129548" y="3244334"/>
            <a:ext cx="3291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path</a:t>
            </a:r>
            <a:r>
              <a:rPr lang="de-AT" dirty="0"/>
              <a:t>, </a:t>
            </a:r>
            <a:r>
              <a:rPr lang="de-AT" dirty="0" err="1"/>
              <a:t>args</a:t>
            </a:r>
            <a:endParaRPr lang="de-AT" dirty="0"/>
          </a:p>
        </p:txBody>
      </p: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F64E433-0B32-F9D2-6901-17CC26E5D54E}"/>
              </a:ext>
            </a:extLst>
          </p:cNvPr>
          <p:cNvCxnSpPr>
            <a:stCxn id="21" idx="2"/>
          </p:cNvCxnSpPr>
          <p:nvPr/>
        </p:nvCxnSpPr>
        <p:spPr>
          <a:xfrm flipH="1">
            <a:off x="10640962" y="4297008"/>
            <a:ext cx="1" cy="1435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39AA0BA-F1CB-2519-95E3-5B7E51FD1C70}"/>
              </a:ext>
            </a:extLst>
          </p:cNvPr>
          <p:cNvCxnSpPr>
            <a:cxnSpLocks/>
          </p:cNvCxnSpPr>
          <p:nvPr/>
        </p:nvCxnSpPr>
        <p:spPr>
          <a:xfrm flipH="1">
            <a:off x="1730477" y="5732517"/>
            <a:ext cx="89104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CE8A977-0A2C-CADC-CF94-78385206186C}"/>
              </a:ext>
            </a:extLst>
          </p:cNvPr>
          <p:cNvCxnSpPr/>
          <p:nvPr/>
        </p:nvCxnSpPr>
        <p:spPr>
          <a:xfrm flipV="1">
            <a:off x="1730477" y="4522527"/>
            <a:ext cx="0" cy="12099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B5FDFA3E-698E-C678-3ACB-5E715561CB9D}"/>
              </a:ext>
            </a:extLst>
          </p:cNvPr>
          <p:cNvSpPr txBox="1"/>
          <p:nvPr/>
        </p:nvSpPr>
        <p:spPr>
          <a:xfrm>
            <a:off x="4209438" y="5318938"/>
            <a:ext cx="455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dup2 -&gt; </a:t>
            </a:r>
            <a:r>
              <a:rPr lang="de-AT" dirty="0" err="1"/>
              <a:t>named</a:t>
            </a:r>
            <a:r>
              <a:rPr lang="de-AT" dirty="0"/>
              <a:t> </a:t>
            </a:r>
            <a:r>
              <a:rPr lang="de-AT" dirty="0" err="1"/>
              <a:t>pipes</a:t>
            </a:r>
            <a:r>
              <a:rPr lang="de-AT" dirty="0"/>
              <a:t>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stdout</a:t>
            </a:r>
            <a:r>
              <a:rPr lang="de-AT" dirty="0"/>
              <a:t> &amp; </a:t>
            </a:r>
            <a:r>
              <a:rPr lang="de-AT" dirty="0" err="1"/>
              <a:t>stderr</a:t>
            </a:r>
            <a:endParaRPr lang="de-AT" dirty="0"/>
          </a:p>
        </p:txBody>
      </p: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0196A433-7042-DFE5-C129-9CB74C50E1F7}"/>
              </a:ext>
            </a:extLst>
          </p:cNvPr>
          <p:cNvCxnSpPr>
            <a:cxnSpLocks/>
          </p:cNvCxnSpPr>
          <p:nvPr/>
        </p:nvCxnSpPr>
        <p:spPr>
          <a:xfrm flipH="1">
            <a:off x="2212258" y="1253924"/>
            <a:ext cx="46826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DD0148E5-63C9-0248-B00C-07FA2780FE42}"/>
              </a:ext>
            </a:extLst>
          </p:cNvPr>
          <p:cNvCxnSpPr>
            <a:cxnSpLocks/>
          </p:cNvCxnSpPr>
          <p:nvPr/>
        </p:nvCxnSpPr>
        <p:spPr>
          <a:xfrm>
            <a:off x="6894869" y="1253924"/>
            <a:ext cx="0" cy="17648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35D0BF18-D646-A40A-8677-82B2199998B9}"/>
              </a:ext>
            </a:extLst>
          </p:cNvPr>
          <p:cNvCxnSpPr>
            <a:cxnSpLocks/>
          </p:cNvCxnSpPr>
          <p:nvPr/>
        </p:nvCxnSpPr>
        <p:spPr>
          <a:xfrm>
            <a:off x="2212258" y="1253924"/>
            <a:ext cx="0" cy="1538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>
            <a:extLst>
              <a:ext uri="{FF2B5EF4-FFF2-40B4-BE49-F238E27FC236}">
                <a16:creationId xmlns:a16="http://schemas.microsoft.com/office/drawing/2014/main" id="{36CFCB3B-93DD-5B70-6BE0-2E93F657F9BD}"/>
              </a:ext>
            </a:extLst>
          </p:cNvPr>
          <p:cNvSpPr txBox="1"/>
          <p:nvPr/>
        </p:nvSpPr>
        <p:spPr>
          <a:xfrm>
            <a:off x="2862419" y="884591"/>
            <a:ext cx="4558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report</a:t>
            </a:r>
            <a:r>
              <a:rPr lang="de-AT" dirty="0"/>
              <a:t> </a:t>
            </a:r>
            <a:r>
              <a:rPr lang="de-AT" dirty="0" err="1"/>
              <a:t>syscalls</a:t>
            </a:r>
            <a:r>
              <a:rPr lang="de-AT" dirty="0"/>
              <a:t> back via </a:t>
            </a:r>
            <a:r>
              <a:rPr lang="de-AT" dirty="0" err="1"/>
              <a:t>stdout</a:t>
            </a:r>
            <a:endParaRPr lang="de-AT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F70D5D7D-054F-FDA0-5C9A-A3F6E03C143D}"/>
              </a:ext>
            </a:extLst>
          </p:cNvPr>
          <p:cNvSpPr txBox="1"/>
          <p:nvPr/>
        </p:nvSpPr>
        <p:spPr>
          <a:xfrm>
            <a:off x="7380954" y="587302"/>
            <a:ext cx="45584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2400" dirty="0" err="1"/>
              <a:t>with</a:t>
            </a:r>
            <a:r>
              <a:rPr lang="de-AT" sz="2400" dirty="0"/>
              <a:t> </a:t>
            </a:r>
            <a:r>
              <a:rPr lang="de-AT" sz="2400" dirty="0" err="1"/>
              <a:t>ptrace</a:t>
            </a:r>
            <a:r>
              <a:rPr lang="de-AT" sz="2400" dirty="0"/>
              <a:t> </a:t>
            </a:r>
            <a:r>
              <a:rPr lang="de-AT" sz="2400" dirty="0" err="1"/>
              <a:t>we</a:t>
            </a:r>
            <a:r>
              <a:rPr lang="de-AT" sz="2400" dirty="0"/>
              <a:t> </a:t>
            </a:r>
            <a:r>
              <a:rPr lang="de-AT" sz="2400" dirty="0" err="1"/>
              <a:t>can</a:t>
            </a:r>
            <a:r>
              <a:rPr lang="de-AT" sz="2400" dirty="0"/>
              <a:t> </a:t>
            </a:r>
            <a:r>
              <a:rPr lang="de-AT" sz="2400" b="1" dirty="0" err="1"/>
              <a:t>read</a:t>
            </a:r>
            <a:r>
              <a:rPr lang="de-AT" sz="2400" b="1" dirty="0"/>
              <a:t> out </a:t>
            </a:r>
            <a:r>
              <a:rPr lang="de-AT" sz="2400" b="1" dirty="0" err="1"/>
              <a:t>the</a:t>
            </a:r>
            <a:r>
              <a:rPr lang="de-AT" sz="2400" b="1" dirty="0"/>
              <a:t> </a:t>
            </a:r>
            <a:r>
              <a:rPr lang="de-AT" sz="2400" b="1" dirty="0" err="1"/>
              <a:t>syscall</a:t>
            </a:r>
            <a:r>
              <a:rPr lang="de-AT" sz="2400" b="1" dirty="0"/>
              <a:t> </a:t>
            </a:r>
            <a:r>
              <a:rPr lang="de-AT" sz="2400" b="1" dirty="0" err="1"/>
              <a:t>nr.</a:t>
            </a:r>
            <a:r>
              <a:rPr lang="de-AT" sz="2400" b="1" dirty="0"/>
              <a:t> </a:t>
            </a:r>
            <a:r>
              <a:rPr lang="de-AT" sz="2400" b="1" dirty="0" err="1"/>
              <a:t>register</a:t>
            </a:r>
            <a:r>
              <a:rPr lang="de-AT" sz="2400" b="1" dirty="0"/>
              <a:t> </a:t>
            </a:r>
            <a:br>
              <a:rPr lang="de-AT" sz="2400" b="1" dirty="0"/>
            </a:br>
            <a:r>
              <a:rPr lang="de-AT" sz="2400" dirty="0"/>
              <a:t>(e.g. </a:t>
            </a:r>
            <a:r>
              <a:rPr lang="de-AT" sz="2400" dirty="0" err="1"/>
              <a:t>rax</a:t>
            </a:r>
            <a:r>
              <a:rPr lang="de-AT" sz="2400" dirty="0"/>
              <a:t> on x64) </a:t>
            </a:r>
            <a:br>
              <a:rPr lang="de-AT" sz="2400" dirty="0"/>
            </a:br>
            <a:r>
              <a:rPr lang="de-AT" sz="2400" dirty="0"/>
              <a:t>on </a:t>
            </a:r>
            <a:r>
              <a:rPr lang="de-AT" sz="2400" dirty="0" err="1"/>
              <a:t>every</a:t>
            </a:r>
            <a:r>
              <a:rPr lang="de-AT" sz="2400" dirty="0"/>
              <a:t> </a:t>
            </a:r>
            <a:r>
              <a:rPr lang="de-AT" sz="2400" dirty="0" err="1"/>
              <a:t>syscall</a:t>
            </a:r>
            <a:r>
              <a:rPr lang="de-AT" sz="2400" dirty="0"/>
              <a:t> </a:t>
            </a:r>
            <a:r>
              <a:rPr lang="de-AT" sz="2400" dirty="0" err="1"/>
              <a:t>entry</a:t>
            </a:r>
            <a:r>
              <a:rPr lang="de-AT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2199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88C8A2D-D930-707F-B25D-6A63BF30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System Call Filters</a:t>
            </a:r>
          </a:p>
        </p:txBody>
      </p:sp>
    </p:spTree>
    <p:extLst>
      <p:ext uri="{BB962C8B-B14F-4D97-AF65-F5344CB8AC3E}">
        <p14:creationId xmlns:p14="http://schemas.microsoft.com/office/powerpoint/2010/main" val="652737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E4178C51-3CAB-3FBA-33CD-904B69915880}"/>
              </a:ext>
            </a:extLst>
          </p:cNvPr>
          <p:cNvSpPr/>
          <p:nvPr/>
        </p:nvSpPr>
        <p:spPr>
          <a:xfrm>
            <a:off x="334297" y="4654543"/>
            <a:ext cx="8386919" cy="18347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Kernel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3BEFB6E-E7F1-5A31-7E58-0F5994B1EE49}"/>
              </a:ext>
            </a:extLst>
          </p:cNvPr>
          <p:cNvSpPr/>
          <p:nvPr/>
        </p:nvSpPr>
        <p:spPr>
          <a:xfrm>
            <a:off x="511276" y="819566"/>
            <a:ext cx="3118755" cy="11382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Userspace</a:t>
            </a:r>
            <a:r>
              <a:rPr lang="de-AT" dirty="0"/>
              <a:t> App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EC0F9016-6FE6-F000-0236-FF29A07BC386}"/>
              </a:ext>
            </a:extLst>
          </p:cNvPr>
          <p:cNvCxnSpPr>
            <a:cxnSpLocks/>
          </p:cNvCxnSpPr>
          <p:nvPr/>
        </p:nvCxnSpPr>
        <p:spPr>
          <a:xfrm>
            <a:off x="1042219" y="1973402"/>
            <a:ext cx="0" cy="2681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7AEB17D6-0071-0547-4B14-D17C1AAAE569}"/>
              </a:ext>
            </a:extLst>
          </p:cNvPr>
          <p:cNvCxnSpPr>
            <a:cxnSpLocks/>
          </p:cNvCxnSpPr>
          <p:nvPr/>
        </p:nvCxnSpPr>
        <p:spPr>
          <a:xfrm>
            <a:off x="2050989" y="1957850"/>
            <a:ext cx="0" cy="269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E06722E4-40F1-67B5-8999-898460E86D3E}"/>
              </a:ext>
            </a:extLst>
          </p:cNvPr>
          <p:cNvCxnSpPr>
            <a:cxnSpLocks/>
          </p:cNvCxnSpPr>
          <p:nvPr/>
        </p:nvCxnSpPr>
        <p:spPr>
          <a:xfrm>
            <a:off x="3151238" y="1957850"/>
            <a:ext cx="0" cy="269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80799FE-916B-5A9F-C577-303C687FD47A}"/>
              </a:ext>
            </a:extLst>
          </p:cNvPr>
          <p:cNvSpPr txBox="1"/>
          <p:nvPr/>
        </p:nvSpPr>
        <p:spPr>
          <a:xfrm>
            <a:off x="9073246" y="2419919"/>
            <a:ext cx="31187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 err="1"/>
              <a:t>Userspace</a:t>
            </a:r>
            <a:r>
              <a:rPr lang="de-AT" sz="2400" dirty="0"/>
              <a:t> </a:t>
            </a:r>
            <a:r>
              <a:rPr lang="de-AT" sz="2400" dirty="0" err="1"/>
              <a:t>apps</a:t>
            </a:r>
            <a:r>
              <a:rPr lang="de-AT" sz="2400" dirty="0"/>
              <a:t> do </a:t>
            </a:r>
            <a:r>
              <a:rPr lang="de-AT" sz="2400" dirty="0" err="1"/>
              <a:t>almost</a:t>
            </a:r>
            <a:r>
              <a:rPr lang="de-AT" sz="2400" dirty="0"/>
              <a:t> </a:t>
            </a:r>
            <a:r>
              <a:rPr lang="de-AT" sz="2400" dirty="0" err="1"/>
              <a:t>everything</a:t>
            </a:r>
            <a:r>
              <a:rPr lang="de-AT" sz="2400" dirty="0"/>
              <a:t> </a:t>
            </a:r>
            <a:r>
              <a:rPr lang="de-AT" sz="2400" dirty="0" err="1"/>
              <a:t>through</a:t>
            </a:r>
            <a:r>
              <a:rPr lang="de-AT" sz="2400" dirty="0"/>
              <a:t> </a:t>
            </a:r>
            <a:r>
              <a:rPr lang="de-AT" sz="2400" dirty="0" err="1"/>
              <a:t>syscalls</a:t>
            </a:r>
            <a:endParaRPr lang="de-AT" sz="24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2C48DD4-DD8E-A341-4111-43AA5F3C2C6C}"/>
              </a:ext>
            </a:extLst>
          </p:cNvPr>
          <p:cNvSpPr/>
          <p:nvPr/>
        </p:nvSpPr>
        <p:spPr>
          <a:xfrm>
            <a:off x="334297" y="3627417"/>
            <a:ext cx="8386916" cy="373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400" dirty="0" err="1"/>
              <a:t>Syscall</a:t>
            </a:r>
            <a:r>
              <a:rPr lang="de-AT" sz="1400" dirty="0"/>
              <a:t> Filter - </a:t>
            </a:r>
            <a:r>
              <a:rPr lang="de-AT" sz="1400" dirty="0" err="1"/>
              <a:t>seccomp</a:t>
            </a:r>
            <a:endParaRPr lang="de-AT" sz="14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E9B683D-1E06-63C9-B603-E730314DBD82}"/>
              </a:ext>
            </a:extLst>
          </p:cNvPr>
          <p:cNvSpPr/>
          <p:nvPr/>
        </p:nvSpPr>
        <p:spPr>
          <a:xfrm>
            <a:off x="4773560" y="835118"/>
            <a:ext cx="3118755" cy="1138284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/>
              <a:t>Userspace</a:t>
            </a:r>
            <a:r>
              <a:rPr lang="de-AT" dirty="0"/>
              <a:t> App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E299A0F1-6116-0D56-15B7-702A0A54C90C}"/>
              </a:ext>
            </a:extLst>
          </p:cNvPr>
          <p:cNvCxnSpPr>
            <a:cxnSpLocks/>
          </p:cNvCxnSpPr>
          <p:nvPr/>
        </p:nvCxnSpPr>
        <p:spPr>
          <a:xfrm>
            <a:off x="5781367" y="1973402"/>
            <a:ext cx="0" cy="269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B612601-8B34-4ED9-9F97-9144C020942F}"/>
              </a:ext>
            </a:extLst>
          </p:cNvPr>
          <p:cNvCxnSpPr>
            <a:cxnSpLocks/>
          </p:cNvCxnSpPr>
          <p:nvPr/>
        </p:nvCxnSpPr>
        <p:spPr>
          <a:xfrm>
            <a:off x="7000567" y="1973401"/>
            <a:ext cx="0" cy="2696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78BB9B6D-EE21-1B9E-9980-4B6994060B60}"/>
              </a:ext>
            </a:extLst>
          </p:cNvPr>
          <p:cNvSpPr txBox="1"/>
          <p:nvPr/>
        </p:nvSpPr>
        <p:spPr>
          <a:xfrm>
            <a:off x="3165986" y="2604585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open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9BE4C378-F50F-00D8-6650-AF509AD5D1E9}"/>
              </a:ext>
            </a:extLst>
          </p:cNvPr>
          <p:cNvSpPr txBox="1"/>
          <p:nvPr/>
        </p:nvSpPr>
        <p:spPr>
          <a:xfrm>
            <a:off x="2065737" y="3045917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socket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A426F4F3-C5E0-8A54-85F5-0AC10C015B30}"/>
              </a:ext>
            </a:extLst>
          </p:cNvPr>
          <p:cNvSpPr txBox="1"/>
          <p:nvPr/>
        </p:nvSpPr>
        <p:spPr>
          <a:xfrm>
            <a:off x="5781367" y="4090770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write</a:t>
            </a:r>
            <a:endParaRPr lang="de-AT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B10C0638-BDC8-35B6-DC98-89C2011B4656}"/>
              </a:ext>
            </a:extLst>
          </p:cNvPr>
          <p:cNvSpPr txBox="1"/>
          <p:nvPr/>
        </p:nvSpPr>
        <p:spPr>
          <a:xfrm>
            <a:off x="1086463" y="2440767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read</a:t>
            </a:r>
            <a:endParaRPr lang="de-AT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C6FCD36-73A4-BE38-D92C-46D06AFA0750}"/>
              </a:ext>
            </a:extLst>
          </p:cNvPr>
          <p:cNvSpPr txBox="1"/>
          <p:nvPr/>
        </p:nvSpPr>
        <p:spPr>
          <a:xfrm>
            <a:off x="7034978" y="2419919"/>
            <a:ext cx="84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getpid</a:t>
            </a:r>
            <a:endParaRPr lang="de-AT" dirty="0"/>
          </a:p>
        </p:txBody>
      </p:sp>
      <p:pic>
        <p:nvPicPr>
          <p:cNvPr id="28" name="Grafik 27" descr="Schließen mit einfarbiger Füllung">
            <a:extLst>
              <a:ext uri="{FF2B5EF4-FFF2-40B4-BE49-F238E27FC236}">
                <a16:creationId xmlns:a16="http://schemas.microsoft.com/office/drawing/2014/main" id="{273A30CB-D423-B68E-8AFE-01B6CFA66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58807" y="4054089"/>
            <a:ext cx="483519" cy="483519"/>
          </a:xfrm>
          <a:prstGeom prst="rect">
            <a:avLst/>
          </a:prstGeom>
        </p:spPr>
      </p:pic>
      <p:pic>
        <p:nvPicPr>
          <p:cNvPr id="29" name="Grafik 28" descr="Schließen mit einfarbiger Füllung">
            <a:extLst>
              <a:ext uri="{FF2B5EF4-FFF2-40B4-BE49-F238E27FC236}">
                <a16:creationId xmlns:a16="http://schemas.microsoft.com/office/drawing/2014/main" id="{47F3E951-23C0-4DF4-6342-590C09489F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4226" y="4033676"/>
            <a:ext cx="483519" cy="483519"/>
          </a:xfrm>
          <a:prstGeom prst="rect">
            <a:avLst/>
          </a:prstGeom>
        </p:spPr>
      </p:pic>
      <p:pic>
        <p:nvPicPr>
          <p:cNvPr id="30" name="Grafik 29" descr="Schließen mit einfarbiger Füllung">
            <a:extLst>
              <a:ext uri="{FF2B5EF4-FFF2-40B4-BE49-F238E27FC236}">
                <a16:creationId xmlns:a16="http://schemas.microsoft.com/office/drawing/2014/main" id="{7AA13E24-67BE-69A7-BAE2-C808FB610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6799" y="4054089"/>
            <a:ext cx="483519" cy="48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2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688C8A2D-D930-707F-B25D-6A63BF300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400" dirty="0"/>
              <a:t>Temporally-Specialized System Call Filters</a:t>
            </a:r>
          </a:p>
        </p:txBody>
      </p:sp>
    </p:spTree>
    <p:extLst>
      <p:ext uri="{BB962C8B-B14F-4D97-AF65-F5344CB8AC3E}">
        <p14:creationId xmlns:p14="http://schemas.microsoft.com/office/powerpoint/2010/main" val="4276066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A539CAF-0753-3B9D-C477-006176A6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Problem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6A663B1-3912-83EB-E444-B71B7FB8188D}"/>
              </a:ext>
            </a:extLst>
          </p:cNvPr>
          <p:cNvSpPr txBox="1"/>
          <p:nvPr/>
        </p:nvSpPr>
        <p:spPr>
          <a:xfrm>
            <a:off x="838200" y="1602198"/>
            <a:ext cx="7627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most seccomp users apply the filter once, often at application startup, and never change it afterwards [1]</a:t>
            </a:r>
            <a:endParaRPr lang="en-US" baseline="-25000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/>
              <a:t>all required </a:t>
            </a:r>
            <a:r>
              <a:rPr lang="en-US" dirty="0" err="1"/>
              <a:t>syscalls</a:t>
            </a:r>
            <a:r>
              <a:rPr lang="en-US" dirty="0"/>
              <a:t> are included </a:t>
            </a:r>
            <a:r>
              <a:rPr lang="en-US" b="1" dirty="0"/>
              <a:t>in a single, overly permissive filter!</a:t>
            </a:r>
          </a:p>
        </p:txBody>
      </p:sp>
      <p:sp>
        <p:nvSpPr>
          <p:cNvPr id="9" name="Titel 5">
            <a:extLst>
              <a:ext uri="{FF2B5EF4-FFF2-40B4-BE49-F238E27FC236}">
                <a16:creationId xmlns:a16="http://schemas.microsoft.com/office/drawing/2014/main" id="{72DF0E4F-CC10-8DF1-B7F6-80C7FEA00292}"/>
              </a:ext>
            </a:extLst>
          </p:cNvPr>
          <p:cNvSpPr txBox="1">
            <a:spLocks/>
          </p:cNvSpPr>
          <p:nvPr/>
        </p:nvSpPr>
        <p:spPr>
          <a:xfrm>
            <a:off x="838200" y="25255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dirty="0"/>
              <a:t>Solution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143F328-E825-5CBE-C899-B5775858C338}"/>
              </a:ext>
            </a:extLst>
          </p:cNvPr>
          <p:cNvSpPr txBox="1"/>
          <p:nvPr/>
        </p:nvSpPr>
        <p:spPr>
          <a:xfrm>
            <a:off x="838200" y="3635337"/>
            <a:ext cx="79149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already trace the </a:t>
            </a:r>
            <a:r>
              <a:rPr lang="en-US" dirty="0" err="1"/>
              <a:t>syscalls</a:t>
            </a:r>
            <a:r>
              <a:rPr lang="en-US" dirty="0"/>
              <a:t>… why not monitor them as well?</a:t>
            </a:r>
          </a:p>
          <a:p>
            <a:r>
              <a:rPr lang="en-US" dirty="0"/>
              <a:t>It’s a bit more expensive, but we can just check every </a:t>
            </a:r>
            <a:r>
              <a:rPr lang="en-US" dirty="0" err="1"/>
              <a:t>syscall</a:t>
            </a:r>
            <a:r>
              <a:rPr lang="en-US" dirty="0"/>
              <a:t> and kill the child if it does not behave!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86AA6535-A5E9-3363-8B49-106288A0B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75" y="5043323"/>
            <a:ext cx="6291761" cy="58880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DFA99631-1799-DB7C-46A2-018045EB9AAA}"/>
              </a:ext>
            </a:extLst>
          </p:cNvPr>
          <p:cNvSpPr txBox="1"/>
          <p:nvPr/>
        </p:nvSpPr>
        <p:spPr>
          <a:xfrm>
            <a:off x="4916129" y="5678108"/>
            <a:ext cx="518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000" dirty="0"/>
              <a:t>Sleep </a:t>
            </a:r>
            <a:r>
              <a:rPr lang="de-AT" sz="2000" dirty="0" err="1"/>
              <a:t>deprivation</a:t>
            </a:r>
            <a:r>
              <a:rPr lang="de-AT" sz="2000" dirty="0"/>
              <a:t> </a:t>
            </a:r>
            <a:r>
              <a:rPr lang="de-AT" sz="2000" dirty="0" err="1"/>
              <a:t>hit</a:t>
            </a:r>
            <a:r>
              <a:rPr lang="de-AT" sz="2000" dirty="0"/>
              <a:t> </a:t>
            </a:r>
            <a:r>
              <a:rPr lang="de-AT" sz="2000" dirty="0" err="1"/>
              <a:t>right</a:t>
            </a:r>
            <a:r>
              <a:rPr lang="de-AT" sz="2000" dirty="0"/>
              <a:t> </a:t>
            </a:r>
            <a:r>
              <a:rPr lang="de-AT" sz="2000" dirty="0" err="1"/>
              <a:t>about</a:t>
            </a:r>
            <a:r>
              <a:rPr lang="de-AT" sz="2000" dirty="0"/>
              <a:t> </a:t>
            </a:r>
            <a:r>
              <a:rPr lang="de-AT" sz="2000" dirty="0" err="1"/>
              <a:t>then</a:t>
            </a:r>
            <a:r>
              <a:rPr lang="de-AT" sz="2000" dirty="0"/>
              <a:t>….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037A487A-CE21-1C0E-C2D5-0A606C356383}"/>
              </a:ext>
            </a:extLst>
          </p:cNvPr>
          <p:cNvSpPr txBox="1"/>
          <p:nvPr/>
        </p:nvSpPr>
        <p:spPr>
          <a:xfrm>
            <a:off x="216310" y="6393470"/>
            <a:ext cx="53782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100" dirty="0"/>
              <a:t>[1] </a:t>
            </a:r>
            <a:r>
              <a:rPr lang="en-US" sz="1100" dirty="0"/>
              <a:t>Transparent Temporally-Specialized System Call Filters. In ACM Asia Conference on Computer and Communications Security (ASIA CCS ’25), August 25–29, 2025</a:t>
            </a:r>
            <a:endParaRPr lang="de-AT" sz="1100" dirty="0"/>
          </a:p>
        </p:txBody>
      </p:sp>
    </p:spTree>
    <p:extLst>
      <p:ext uri="{BB962C8B-B14F-4D97-AF65-F5344CB8AC3E}">
        <p14:creationId xmlns:p14="http://schemas.microsoft.com/office/powerpoint/2010/main" val="358762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6F65A43-9AFC-5D0D-42E9-F5F8FB9FCC65}"/>
              </a:ext>
            </a:extLst>
          </p:cNvPr>
          <p:cNvSpPr/>
          <p:nvPr/>
        </p:nvSpPr>
        <p:spPr>
          <a:xfrm>
            <a:off x="810300" y="609600"/>
            <a:ext cx="5400000" cy="5801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b="1" dirty="0"/>
              <a:t>Desktop JVM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2BA6BED-2531-F67A-5F30-F8BE5E65BC87}"/>
              </a:ext>
            </a:extLst>
          </p:cNvPr>
          <p:cNvSpPr/>
          <p:nvPr/>
        </p:nvSpPr>
        <p:spPr>
          <a:xfrm>
            <a:off x="6182400" y="609600"/>
            <a:ext cx="5400000" cy="58010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b="1" dirty="0"/>
              <a:t>Android Native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CDABCFC-42E8-5895-0C3D-07F1B5A4073C}"/>
              </a:ext>
            </a:extLst>
          </p:cNvPr>
          <p:cNvSpPr/>
          <p:nvPr/>
        </p:nvSpPr>
        <p:spPr>
          <a:xfrm>
            <a:off x="824250" y="1610031"/>
            <a:ext cx="10772100" cy="21753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AT" dirty="0" err="1"/>
              <a:t>Kotlin</a:t>
            </a:r>
            <a:r>
              <a:rPr lang="de-AT" dirty="0"/>
              <a:t> Multi-</a:t>
            </a:r>
            <a:r>
              <a:rPr lang="de-AT" dirty="0" err="1"/>
              <a:t>Platform</a:t>
            </a:r>
            <a:endParaRPr lang="de-AT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3974B82-EB9D-0355-2AFC-B054E89F1E09}"/>
              </a:ext>
            </a:extLst>
          </p:cNvPr>
          <p:cNvSpPr/>
          <p:nvPr/>
        </p:nvSpPr>
        <p:spPr>
          <a:xfrm>
            <a:off x="2849264" y="2115166"/>
            <a:ext cx="6666271" cy="57027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Common Code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1C3BD5A-BC76-3302-A32B-2BBDEB39F186}"/>
              </a:ext>
            </a:extLst>
          </p:cNvPr>
          <p:cNvSpPr/>
          <p:nvPr/>
        </p:nvSpPr>
        <p:spPr>
          <a:xfrm>
            <a:off x="3802994" y="2911578"/>
            <a:ext cx="1406013" cy="875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Linux JVM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B32201D-C057-7839-925C-CB6785683743}"/>
              </a:ext>
            </a:extLst>
          </p:cNvPr>
          <p:cNvSpPr/>
          <p:nvPr/>
        </p:nvSpPr>
        <p:spPr>
          <a:xfrm>
            <a:off x="7196352" y="2912809"/>
            <a:ext cx="1406013" cy="875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Android Native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C434C0F8-91F0-6B60-D1CD-75935FC8180B}"/>
              </a:ext>
            </a:extLst>
          </p:cNvPr>
          <p:cNvCxnSpPr>
            <a:cxnSpLocks/>
            <a:stCxn id="9" idx="2"/>
            <a:endCxn id="10" idx="3"/>
          </p:cNvCxnSpPr>
          <p:nvPr/>
        </p:nvCxnSpPr>
        <p:spPr>
          <a:xfrm flipH="1">
            <a:off x="5209007" y="2685436"/>
            <a:ext cx="973393" cy="6636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00394C27-C261-0E57-67D8-AE817E09DF8F}"/>
              </a:ext>
            </a:extLst>
          </p:cNvPr>
          <p:cNvCxnSpPr>
            <a:cxnSpLocks/>
            <a:stCxn id="9" idx="2"/>
            <a:endCxn id="11" idx="1"/>
          </p:cNvCxnSpPr>
          <p:nvPr/>
        </p:nvCxnSpPr>
        <p:spPr>
          <a:xfrm>
            <a:off x="6182400" y="2685436"/>
            <a:ext cx="1013952" cy="6649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Rechteck 18">
            <a:extLst>
              <a:ext uri="{FF2B5EF4-FFF2-40B4-BE49-F238E27FC236}">
                <a16:creationId xmlns:a16="http://schemas.microsoft.com/office/drawing/2014/main" id="{1255B207-4ED3-BE8E-1981-6324A71DCA92}"/>
              </a:ext>
            </a:extLst>
          </p:cNvPr>
          <p:cNvSpPr/>
          <p:nvPr/>
        </p:nvSpPr>
        <p:spPr>
          <a:xfrm>
            <a:off x="2396981" y="4538817"/>
            <a:ext cx="1406013" cy="875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C++ Helper</a:t>
            </a: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7A2265A7-4087-6147-EBE7-E64470960CCB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3099988" y="3786649"/>
            <a:ext cx="1406013" cy="752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050C561E-127B-F237-5EB1-C6FC60957C7A}"/>
              </a:ext>
            </a:extLst>
          </p:cNvPr>
          <p:cNvSpPr/>
          <p:nvPr/>
        </p:nvSpPr>
        <p:spPr>
          <a:xfrm>
            <a:off x="8882400" y="4538816"/>
            <a:ext cx="1406013" cy="87507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/>
              <a:t>C++ Helper</a:t>
            </a:r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EDFFCAA6-B43C-92B2-E23F-5FC4F34CD2FF}"/>
              </a:ext>
            </a:extLst>
          </p:cNvPr>
          <p:cNvCxnSpPr>
            <a:cxnSpLocks/>
            <a:stCxn id="11" idx="2"/>
            <a:endCxn id="23" idx="0"/>
          </p:cNvCxnSpPr>
          <p:nvPr/>
        </p:nvCxnSpPr>
        <p:spPr>
          <a:xfrm>
            <a:off x="7899359" y="3787880"/>
            <a:ext cx="1686048" cy="750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413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793A2FF4-92B9-B30C-2B0A-D218FC534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1306"/>
            <a:ext cx="2950221" cy="683757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B5ADA03-A064-A38C-188E-561027FB6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464" y="0"/>
            <a:ext cx="3043071" cy="683000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355C58F-5800-B080-9E43-AE5F4235F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1907" y="-27998"/>
            <a:ext cx="3068019" cy="688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CA8321-6C5C-8B6A-DB91-83A4766C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900D5CD-D8D9-AB8E-5441-F0C3934C3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BD8CFC-252B-0826-EC95-EB2AEED92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002" y="0"/>
            <a:ext cx="72379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4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Aussicht</Template>
  <TotalTime>0</TotalTime>
  <Words>250</Words>
  <Application>Microsoft Office PowerPoint</Application>
  <PresentationFormat>Breitbild</PresentationFormat>
  <Paragraphs>48</Paragraphs>
  <Slides>11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Symbol</vt:lpstr>
      <vt:lpstr>Office</vt:lpstr>
      <vt:lpstr>Aegis</vt:lpstr>
      <vt:lpstr>Motivation</vt:lpstr>
      <vt:lpstr>Monitoring</vt:lpstr>
      <vt:lpstr>PowerPoint-Präsentation</vt:lpstr>
      <vt:lpstr>System Call Filters</vt:lpstr>
      <vt:lpstr>PowerPoint-Präsentation</vt:lpstr>
      <vt:lpstr>Temporally-Specialized System Call Filters</vt:lpstr>
      <vt:lpstr>Problem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Dominik Marcel Weber</dc:creator>
  <cp:lastModifiedBy>Dominik Marcel Weber</cp:lastModifiedBy>
  <cp:revision>76</cp:revision>
  <dcterms:created xsi:type="dcterms:W3CDTF">2025-11-22T23:43:04Z</dcterms:created>
  <dcterms:modified xsi:type="dcterms:W3CDTF">2025-11-23T08:14:02Z</dcterms:modified>
</cp:coreProperties>
</file>